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7"/>
  </p:normalViewPr>
  <p:slideViewPr>
    <p:cSldViewPr snapToGrid="0" snapToObjects="1">
      <p:cViewPr varScale="1">
        <p:scale>
          <a:sx n="104" d="100"/>
          <a:sy n="104" d="100"/>
        </p:scale>
        <p:origin x="80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Accuracy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0.68</c:v>
                </c:pt>
                <c:pt idx="1">
                  <c:v>0.82399999999999995</c:v>
                </c:pt>
                <c:pt idx="2">
                  <c:v>0.745</c:v>
                </c:pt>
                <c:pt idx="3">
                  <c:v>0.70299999999999996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F7-BF4B-9D77-7C5941C658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Accuracy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0.68600000000000005</c:v>
                </c:pt>
                <c:pt idx="1">
                  <c:v>0.81499999999999995</c:v>
                </c:pt>
                <c:pt idx="2">
                  <c:v>0.745</c:v>
                </c:pt>
                <c:pt idx="3">
                  <c:v>0.70599999999999996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F7-BF4B-9D77-7C5941C658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Predicting Generous Taxi Tippers</a:t>
            </a:r>
          </a:p>
          <a:p>
            <a:pPr>
              <a:defRPr sz="2100">
                <a:solidFill>
                  <a:srgbClr val="DCE6F0"/>
                </a:solidFill>
              </a:defRPr>
            </a:pPr>
            <a:r>
              <a:t>Machine learning with responsible 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3891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CE6F0"/>
                </a:solidFill>
              </a:defRPr>
            </a:pPr>
            <a:r>
              <a:t>Random Forest vs XGBoost | 15,265 NYC TLC trips | Eric 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C43"/>
                </a:solidFill>
              </a:defRPr>
            </a:pPr>
            <a:r>
              <a:t>1. Reframing 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The most important decision came before modelling.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Eric Li | Google Advanced Data Analytics Capstone   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7492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467057" cy="8463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2C43"/>
                </a:solidFill>
              </a:defRPr>
            </a:pPr>
            <a:r>
              <a:rPr dirty="0"/>
              <a:t>Original request</a:t>
            </a:r>
          </a:p>
          <a:p>
            <a:pPr>
              <a:defRPr sz="1500">
                <a:solidFill>
                  <a:srgbClr val="20242A"/>
                </a:solidFill>
              </a:defRPr>
            </a:pPr>
            <a:r>
              <a:rPr dirty="0"/>
              <a:t>Predict customers unlikely to tip so drivers could avoid </a:t>
            </a:r>
            <a:endParaRPr lang="en-US" dirty="0"/>
          </a:p>
          <a:p>
            <a:pPr>
              <a:defRPr sz="1500">
                <a:solidFill>
                  <a:srgbClr val="20242A"/>
                </a:solidFill>
              </a:defRPr>
            </a:pPr>
            <a:r>
              <a:rPr dirty="0"/>
              <a:t>low-tipping passengers.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507492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810869" cy="8463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2C43"/>
                </a:solidFill>
              </a:defRPr>
            </a:pPr>
            <a:r>
              <a:rPr dirty="0"/>
              <a:t>Reframed objective</a:t>
            </a:r>
          </a:p>
          <a:p>
            <a:pPr>
              <a:defRPr sz="1500">
                <a:solidFill>
                  <a:srgbClr val="20242A"/>
                </a:solidFill>
              </a:defRPr>
            </a:pPr>
            <a:r>
              <a:rPr dirty="0"/>
              <a:t>Predict generous tippers (&gt;=20%) while keeping taxi access </a:t>
            </a:r>
            <a:endParaRPr lang="en-US" dirty="0"/>
          </a:p>
          <a:p>
            <a:pPr>
              <a:defRPr sz="1500">
                <a:solidFill>
                  <a:srgbClr val="20242A"/>
                </a:solidFill>
              </a:defRPr>
            </a:pPr>
            <a:r>
              <a:rPr dirty="0"/>
              <a:t>independent of the prediction.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42A"/>
                </a:solidFill>
              </a:defRPr>
            </a:pPr>
            <a:r>
              <a:t>• Risk identified: predictions could reduce fair access to taxi services.</a:t>
            </a:r>
          </a:p>
          <a:p>
            <a:pPr>
              <a:spcAft>
                <a:spcPts val="1000"/>
              </a:spcAft>
              <a:defRPr sz="1600">
                <a:solidFill>
                  <a:srgbClr val="20242A"/>
                </a:solidFill>
              </a:defRPr>
            </a:pPr>
            <a:r>
              <a:t>• Decision principle: optimise driver insight without creating an exclusion mechanism.</a:t>
            </a:r>
          </a:p>
          <a:p>
            <a:pPr>
              <a:spcAft>
                <a:spcPts val="1000"/>
              </a:spcAft>
              <a:defRPr sz="1600">
                <a:solidFill>
                  <a:srgbClr val="20242A"/>
                </a:solidFill>
              </a:defRPr>
            </a:pPr>
            <a:r>
              <a:t>• F1 chosen because both precision and recall matter in the reframed use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C43"/>
                </a:solidFill>
              </a:defRPr>
            </a:pPr>
            <a:r>
              <a:t>2. Data and modelling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A balanced classification problem with leakage controls and tuned tree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Eric Li | Google Advanced Data Analytics Capstone   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2860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6689D"/>
                </a:solidFill>
              </a:defRPr>
            </a:pPr>
            <a:r>
              <a:t>15,265</a:t>
            </a:r>
          </a:p>
          <a:p>
            <a:pPr algn="ctr">
              <a:defRPr sz="1100">
                <a:solidFill>
                  <a:srgbClr val="646E78"/>
                </a:solidFill>
              </a:defRPr>
            </a:pPr>
            <a:r>
              <a:t>card-paid trips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2860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79" y="16002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6689D"/>
                </a:solidFill>
              </a:defRPr>
            </a:pPr>
            <a:r>
              <a:t>52.6%</a:t>
            </a:r>
          </a:p>
          <a:p>
            <a:pPr algn="ctr">
              <a:defRPr sz="1100">
                <a:solidFill>
                  <a:srgbClr val="646E78"/>
                </a:solidFill>
              </a:defRPr>
            </a:pPr>
            <a:r>
              <a:t>generous tippers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22860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6689D"/>
                </a:solidFill>
              </a:defRPr>
            </a:pPr>
            <a:r>
              <a:t>347</a:t>
            </a:r>
          </a:p>
          <a:p>
            <a:pPr algn="ctr">
              <a:defRPr sz="1100">
                <a:solidFill>
                  <a:srgbClr val="646E78"/>
                </a:solidFill>
              </a:defRPr>
            </a:pPr>
            <a:r>
              <a:t>model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17320"/>
            <a:ext cx="22860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16002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6689D"/>
                </a:solidFill>
              </a:defRPr>
            </a:pPr>
            <a:r>
              <a:t>80/20</a:t>
            </a:r>
          </a:p>
          <a:p>
            <a:pPr algn="ctr">
              <a:defRPr sz="1100">
                <a:solidFill>
                  <a:srgbClr val="646E78"/>
                </a:solidFill>
              </a:defRPr>
            </a:pPr>
            <a:r>
              <a:t>train-test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42A"/>
                </a:solidFill>
              </a:defRPr>
            </a:pPr>
            <a:r>
              <a:t>• Engineered time-of-day, day and month features plus predicted fare and route-level mean duration/distance.</a:t>
            </a:r>
          </a:p>
          <a:p>
            <a:pPr>
              <a:spcAft>
                <a:spcPts val="1000"/>
              </a:spcAft>
              <a:defRPr sz="1600">
                <a:solidFill>
                  <a:srgbClr val="20242A"/>
                </a:solidFill>
              </a:defRPr>
            </a:pPr>
            <a:r>
              <a:t>• Removed post-trip and target-leakage variables such as tip amount and tip percentage.</a:t>
            </a:r>
          </a:p>
          <a:p>
            <a:pPr>
              <a:spcAft>
                <a:spcPts val="1000"/>
              </a:spcAft>
              <a:defRPr sz="1600">
                <a:solidFill>
                  <a:srgbClr val="20242A"/>
                </a:solidFill>
              </a:defRPr>
            </a:pPr>
            <a:r>
              <a:t>• Tuned Random Forest and XGBoost with GridSearchCV; selected models by F1.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C43"/>
                </a:solidFill>
              </a:defRPr>
            </a:pPr>
            <a:r>
              <a:t>3.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Both models achieved virtually identical F1; Random Forest offered slightly higher recall.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Eric Li | Google Advanced Data Analytics Capstone     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508760"/>
          <a:ext cx="6675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54480"/>
            <a:ext cx="3566160" cy="41148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2440" y="1828800"/>
            <a:ext cx="3017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C43"/>
                </a:solidFill>
              </a:defRPr>
            </a:pPr>
            <a:r>
              <a:t>Recommendation</a:t>
            </a:r>
          </a:p>
          <a:p>
            <a:pPr>
              <a:spcAft>
                <a:spcPts val="800"/>
              </a:spcAft>
              <a:defRPr sz="1400">
                <a:solidFill>
                  <a:srgbClr val="20242A"/>
                </a:solidFill>
              </a:defRPr>
            </a:pPr>
            <a:r>
              <a:t>• Select Random Forest as the current preferred model.</a:t>
            </a:r>
          </a:p>
          <a:p>
            <a:pPr>
              <a:spcAft>
                <a:spcPts val="800"/>
              </a:spcAft>
              <a:defRPr sz="1400">
                <a:solidFill>
                  <a:srgbClr val="20242A"/>
                </a:solidFill>
              </a:defRPr>
            </a:pPr>
            <a:r>
              <a:t>• Test F1 = 0.745; recall = 0.824.</a:t>
            </a:r>
          </a:p>
          <a:p>
            <a:pPr>
              <a:spcAft>
                <a:spcPts val="800"/>
              </a:spcAft>
              <a:defRPr sz="1400">
                <a:solidFill>
                  <a:srgbClr val="20242A"/>
                </a:solidFill>
              </a:defRPr>
            </a:pPr>
            <a:r>
              <a:t>• XGBoost adds complexity without a meaningful F1 gain.</a:t>
            </a:r>
          </a:p>
          <a:p>
            <a:pPr>
              <a:spcAft>
                <a:spcPts val="800"/>
              </a:spcAft>
              <a:defRPr sz="1400">
                <a:solidFill>
                  <a:srgbClr val="20242A"/>
                </a:solidFill>
              </a:defRPr>
            </a:pPr>
            <a:r>
              <a:t>• Focus next effort on features and validation, not model complexity.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C43"/>
                </a:solidFill>
              </a:defRPr>
            </a:pPr>
            <a:r>
              <a:t>4. What the model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Feature importance highlights useful signals — and questions that require investigation.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Eric Li | Google Advanced Data Analytics Capstone   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0242A"/>
                </a:solidFill>
              </a:defRPr>
            </a:pPr>
            <a:r>
              <a:t>• Top signals included VendorID, predicted fare, mean duration and mean distance.</a:t>
            </a:r>
          </a:p>
          <a:p>
            <a:pPr>
              <a:spcAft>
                <a:spcPts val="1000"/>
              </a:spcAft>
              <a:defRPr sz="1700">
                <a:solidFill>
                  <a:srgbClr val="20242A"/>
                </a:solidFill>
              </a:defRPr>
            </a:pPr>
            <a:r>
              <a:t>• VendorID is the most important feature in the notebook analysis, but importance does not explain causality.</a:t>
            </a:r>
          </a:p>
          <a:p>
            <a:pPr>
              <a:spcAft>
                <a:spcPts val="1000"/>
              </a:spcAft>
              <a:defRPr sz="1700">
                <a:solidFill>
                  <a:srgbClr val="20242A"/>
                </a:solidFill>
              </a:defRPr>
            </a:pPr>
            <a:r>
              <a:t>• Its predictive power could reflect operational differences or act as a proxy for unobserved factors; test this before deployment.</a:t>
            </a:r>
          </a:p>
          <a:p>
            <a:pPr>
              <a:spcAft>
                <a:spcPts val="1000"/>
              </a:spcAft>
              <a:defRPr sz="1700">
                <a:solidFill>
                  <a:srgbClr val="20242A"/>
                </a:solidFill>
              </a:defRPr>
            </a:pPr>
            <a:r>
              <a:t>• False positives were more common than false negatives, which could create unrealistic expectations for drivers.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846320"/>
            <a:ext cx="10424160" cy="9601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C43"/>
                </a:solidFill>
              </a:defRPr>
            </a:pPr>
            <a:r>
              <a:t>Interpretation: predictive performance is only one part of model quality; feature validity and behavioural impact matter too.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C43"/>
                </a:solidFill>
              </a:defRPr>
            </a:pPr>
            <a:r>
              <a:t>5. Recommendations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Use the model as a controlled decision-support experiment, not a service-allocation tool.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Eric Li | Google Advanced Data Analytics Capstone     6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325880"/>
            <a:ext cx="502920" cy="502920"/>
          </a:xfrm>
          <a:prstGeom prst="ellipse">
            <a:avLst/>
          </a:prstGeom>
          <a:solidFill>
            <a:srgbClr val="366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8074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307592"/>
            <a:ext cx="9875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C43"/>
                </a:solidFill>
              </a:defRPr>
            </a:pPr>
            <a:r>
              <a:t>Protect access</a:t>
            </a:r>
          </a:p>
          <a:p>
            <a:pPr>
              <a:defRPr sz="1200">
                <a:solidFill>
                  <a:srgbClr val="20242A"/>
                </a:solidFill>
              </a:defRPr>
            </a:pPr>
            <a:r>
              <a:t>Do not deny or deprioritise service based on predicted tipping.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58568"/>
            <a:ext cx="502920" cy="502920"/>
          </a:xfrm>
          <a:prstGeom prst="ellipse">
            <a:avLst/>
          </a:prstGeom>
          <a:solidFill>
            <a:srgbClr val="366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240279"/>
            <a:ext cx="9875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C43"/>
                </a:solidFill>
              </a:defRPr>
            </a:pPr>
            <a:r>
              <a:t>Pilot first</a:t>
            </a:r>
          </a:p>
          <a:p>
            <a:pPr>
              <a:defRPr sz="1200">
                <a:solidFill>
                  <a:srgbClr val="20242A"/>
                </a:solidFill>
              </a:defRPr>
            </a:pPr>
            <a:r>
              <a:t>Test with current data and measure driver/customer behaviour as well as model metrics.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191256"/>
            <a:ext cx="502920" cy="502920"/>
          </a:xfrm>
          <a:prstGeom prst="ellipse">
            <a:avLst/>
          </a:prstGeom>
          <a:solidFill>
            <a:srgbClr val="366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72968"/>
            <a:ext cx="9875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C43"/>
                </a:solidFill>
              </a:defRPr>
            </a:pPr>
            <a:r>
              <a:t>Investigate VendorID</a:t>
            </a:r>
          </a:p>
          <a:p>
            <a:pPr>
              <a:defRPr sz="1200">
                <a:solidFill>
                  <a:srgbClr val="20242A"/>
                </a:solidFill>
              </a:defRPr>
            </a:pPr>
            <a:r>
              <a:t>Validate why vendor identity is predictive and whether the relationship is stable.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123944"/>
            <a:ext cx="502920" cy="502920"/>
          </a:xfrm>
          <a:prstGeom prst="ellipse">
            <a:avLst/>
          </a:prstGeom>
          <a:solidFill>
            <a:srgbClr val="366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178807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05656"/>
            <a:ext cx="9875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C43"/>
                </a:solidFill>
              </a:defRPr>
            </a:pPr>
            <a:r>
              <a:t>Improve features</a:t>
            </a:r>
          </a:p>
          <a:p>
            <a:pPr>
              <a:defRPr sz="1200">
                <a:solidFill>
                  <a:srgbClr val="20242A"/>
                </a:solidFill>
              </a:defRPr>
            </a:pPr>
            <a:r>
              <a:t>Add richer tipping history, cash-tip coverage, location and fare-rounding features where appropriate.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56632"/>
            <a:ext cx="502920" cy="502920"/>
          </a:xfrm>
          <a:prstGeom prst="ellipse">
            <a:avLst/>
          </a:prstGeom>
          <a:solidFill>
            <a:srgbClr val="366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11149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9875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C43"/>
                </a:solidFill>
              </a:defRPr>
            </a:pPr>
            <a:r>
              <a:t>Monitor fairness</a:t>
            </a:r>
          </a:p>
          <a:p>
            <a:pPr>
              <a:defRPr sz="1200">
                <a:solidFill>
                  <a:srgbClr val="20242A"/>
                </a:solidFill>
              </a:defRPr>
            </a:pPr>
            <a:r>
              <a:t>Track F1, precision, recall, error patterns and downstream impacts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509</Words>
  <Application>Microsoft Macintosh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Eric Li</cp:lastModifiedBy>
  <cp:revision>2</cp:revision>
  <dcterms:created xsi:type="dcterms:W3CDTF">2013-01-27T09:14:16Z</dcterms:created>
  <dcterms:modified xsi:type="dcterms:W3CDTF">2026-09-25T15:12:26Z</dcterms:modified>
  <cp:category/>
</cp:coreProperties>
</file>